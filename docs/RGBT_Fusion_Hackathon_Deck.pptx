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Small</c:v>
                </c:pt>
              </c:strCache>
            </c:strRef>
          </c:tx>
          <c:spPr>
            <a:solidFill>
              <a:srgbClr val="F2641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Times New Roman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Train</c:v>
                </c:pt>
                <c:pt idx="1">
                  <c:v>Val</c:v>
                </c:pt>
                <c:pt idx="2">
                  <c:v>Test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9.9</c:v>
                </c:pt>
                <c:pt idx="1">
                  <c:v>18.100000000000001</c:v>
                </c:pt>
                <c:pt idx="2">
                  <c:v>25.6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84-494A-A352-B210AECB299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rgbClr val="2F485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Times New Roman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Train</c:v>
                </c:pt>
                <c:pt idx="1">
                  <c:v>Val</c:v>
                </c:pt>
                <c:pt idx="2">
                  <c:v>Test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67</c:v>
                </c:pt>
                <c:pt idx="1">
                  <c:v>68.099999999999994</c:v>
                </c:pt>
                <c:pt idx="2">
                  <c:v>61.4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84-494A-A352-B210AECB299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Large</c:v>
                </c:pt>
              </c:strCache>
            </c:strRef>
          </c:tx>
          <c:spPr>
            <a:solidFill>
              <a:srgbClr val="8A93A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Times New Roman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Train</c:v>
                </c:pt>
                <c:pt idx="1">
                  <c:v>Val</c:v>
                </c:pt>
                <c:pt idx="2">
                  <c:v>Test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23.1</c:v>
                </c:pt>
                <c:pt idx="1">
                  <c:v>13.8</c:v>
                </c:pt>
                <c:pt idx="2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384-494A-A352-B210AECB299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3B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Times New Roman"/>
                  </a:defRPr>
                </a:pPr>
                <a:r>
                  <a:rPr lang="en-IN" sz="1000" b="0" i="0" u="none" strike="noStrike">
                    <a:solidFill>
                      <a:srgbClr val="000000"/>
                    </a:solidFill>
                    <a:latin typeface="Times New Roman"/>
                  </a:rPr>
                  <a:t>% of instances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1F3B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Times New Roman"/>
              <a:cs typeface="Times New Roman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3B"/>
                </a:solidFill>
                <a:latin typeface="Times New Roman"/>
              </a:defRPr>
            </a:pPr>
            <a:r>
              <a:rPr lang="en-US" sz="1300" b="0" i="0" u="none" strike="noStrike">
                <a:solidFill>
                  <a:srgbClr val="1B1F3B"/>
                </a:solidFill>
                <a:latin typeface="Times New Roman"/>
              </a:rPr>
              <a:t>Overall mAP by Modality (test set)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</c:v>
                </c:pt>
              </c:strCache>
            </c:strRef>
          </c:tx>
          <c:spPr>
            <a:solidFill>
              <a:srgbClr val="8A93A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E8E-40E2-9EB5-35E88BB4103C}"/>
              </c:ext>
            </c:extLst>
          </c:dPt>
          <c:dPt>
            <c:idx val="1"/>
            <c:invertIfNegative val="0"/>
            <c:bubble3D val="0"/>
            <c:spPr>
              <a:solidFill>
                <a:srgbClr val="2F485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E8E-40E2-9EB5-35E88BB4103C}"/>
              </c:ext>
            </c:extLst>
          </c:dPt>
          <c:dPt>
            <c:idx val="2"/>
            <c:invertIfNegative val="0"/>
            <c:bubble3D val="0"/>
            <c:spPr>
              <a:solidFill>
                <a:srgbClr val="F2641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E8E-40E2-9EB5-35E88BB4103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1F3B"/>
                    </a:solidFill>
                    <a:latin typeface="Times New Roman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RGB-only</c:v>
                </c:pt>
                <c:pt idx="1">
                  <c:v>Thermal-only</c:v>
                </c:pt>
                <c:pt idx="2">
                  <c:v>Fusion (baseline)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4.1000000000000002E-2</c:v>
                </c:pt>
                <c:pt idx="1">
                  <c:v>0.23200000000000001</c:v>
                </c:pt>
                <c:pt idx="2">
                  <c:v>0.29899999999999999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E8E-40E2-9EB5-35E88BB4103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3B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1F3B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3B"/>
                </a:solidFill>
                <a:latin typeface="Times New Roman"/>
              </a:defRPr>
            </a:pPr>
            <a:r>
              <a:rPr lang="en-US" sz="1300" b="0" i="0" u="none" strike="noStrike">
                <a:solidFill>
                  <a:srgbClr val="1B1F3B"/>
                </a:solidFill>
                <a:latin typeface="Times New Roman"/>
              </a:rPr>
              <a:t>Scale-wise mAP: where fusion helps most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mAPₗ (large)</c:v>
                </c:pt>
              </c:strCache>
            </c:strRef>
          </c:tx>
          <c:spPr>
            <a:solidFill>
              <a:srgbClr val="2F485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1F3B"/>
                    </a:solidFill>
                    <a:latin typeface="Times New Roman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RGB-only</c:v>
                </c:pt>
                <c:pt idx="1">
                  <c:v>Thermal-only</c:v>
                </c:pt>
                <c:pt idx="2">
                  <c:v>Fusion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7.3999999999999996E-2</c:v>
                </c:pt>
                <c:pt idx="1">
                  <c:v>0.53800000000000003</c:v>
                </c:pt>
                <c:pt idx="2">
                  <c:v>0.55400000000000005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C4-4D3B-A8FC-D3FD6081651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mAPₛ (small)</c:v>
                </c:pt>
              </c:strCache>
            </c:strRef>
          </c:tx>
          <c:spPr>
            <a:solidFill>
              <a:srgbClr val="F2641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1F3B"/>
                    </a:solidFill>
                    <a:latin typeface="Times New Roman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RGB-only</c:v>
                </c:pt>
                <c:pt idx="1">
                  <c:v>Thermal-only</c:v>
                </c:pt>
                <c:pt idx="2">
                  <c:v>Fusion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0.02</c:v>
                </c:pt>
                <c:pt idx="1">
                  <c:v>0.08</c:v>
                </c:pt>
                <c:pt idx="2">
                  <c:v>0.129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AC4-4D3B-A8FC-D3FD6081651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3B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1F3B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Times New Roman"/>
              <a:cs typeface="Times New Roman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3B"/>
                </a:solidFill>
                <a:latin typeface="Times New Roman"/>
              </a:defRPr>
            </a:pPr>
            <a:r>
              <a:rPr lang="en-IN" sz="1300" b="0" i="0" u="none" strike="noStrike">
                <a:solidFill>
                  <a:srgbClr val="1B1F3B"/>
                </a:solidFill>
                <a:latin typeface="Times New Roman"/>
              </a:rPr>
              <a:t>Test-set mAP across runs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</c:v>
                </c:pt>
              </c:strCache>
            </c:strRef>
          </c:tx>
          <c:spPr>
            <a:solidFill>
              <a:srgbClr val="8A93A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668-4287-9472-4D6CEF634BC5}"/>
              </c:ext>
            </c:extLst>
          </c:dPt>
          <c:dPt>
            <c:idx val="1"/>
            <c:invertIfNegative val="0"/>
            <c:bubble3D val="0"/>
            <c:spPr>
              <a:solidFill>
                <a:srgbClr val="D6454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668-4287-9472-4D6CEF634BC5}"/>
              </c:ext>
            </c:extLst>
          </c:dPt>
          <c:dPt>
            <c:idx val="2"/>
            <c:invertIfNegative val="0"/>
            <c:bubble3D val="0"/>
            <c:spPr>
              <a:solidFill>
                <a:srgbClr val="F2641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668-4287-9472-4D6CEF634BC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1F3B"/>
                    </a:solidFill>
                    <a:latin typeface="Times New Roman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Baseline (cat)</c:v>
                </c:pt>
                <c:pt idx="1">
                  <c:v>Run 1: uniform LR</c:v>
                </c:pt>
                <c:pt idx="2">
                  <c:v>Run 2: 10× LR on gates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0.29899999999999999</c:v>
                </c:pt>
                <c:pt idx="1">
                  <c:v>0.28399999999999997</c:v>
                </c:pt>
                <c:pt idx="2">
                  <c:v>0.32600000000000001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668-4287-9472-4D6CEF634BC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3B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1F3B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3B"/>
                </a:solidFill>
                <a:latin typeface="Times New Roman"/>
              </a:defRPr>
            </a:pPr>
            <a:r>
              <a:rPr lang="en-US" sz="1300" b="0" i="0" u="none" strike="noStrike">
                <a:solidFill>
                  <a:srgbClr val="1B1F3B"/>
                </a:solidFill>
                <a:latin typeface="Times New Roman"/>
              </a:rPr>
              <a:t>Run 4 (smaller gate bottleneck) — validation metrics by epoch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 mAP</c:v>
                </c:pt>
              </c:strCache>
            </c:strRef>
          </c:tx>
          <c:spPr>
            <a:ln w="31750" cap="flat">
              <a:solidFill>
                <a:srgbClr val="F2641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26419"/>
              </a:solidFill>
              <a:ln w="9525" cap="flat">
                <a:solidFill>
                  <a:srgbClr val="F26419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Epoch 1</c:v>
                </c:pt>
                <c:pt idx="1">
                  <c:v>Epoch 2</c:v>
                </c:pt>
                <c:pt idx="2">
                  <c:v>Epoch 3</c:v>
                </c:pt>
                <c:pt idx="3">
                  <c:v>Epoch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0.29599999999999999</c:v>
                </c:pt>
                <c:pt idx="1">
                  <c:v>0.33300000000000002</c:v>
                </c:pt>
                <c:pt idx="2">
                  <c:v>0.33600000000000002</c:v>
                </c:pt>
                <c:pt idx="3">
                  <c:v>0.33300000000000002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80A-489A-859C-90FD9C0AC7C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mAP75</c:v>
                </c:pt>
              </c:strCache>
            </c:strRef>
          </c:tx>
          <c:spPr>
            <a:ln w="31750" cap="flat">
              <a:solidFill>
                <a:srgbClr val="2F485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F4858"/>
              </a:solidFill>
              <a:ln w="9525" cap="flat">
                <a:solidFill>
                  <a:srgbClr val="2F4858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Epoch 1</c:v>
                </c:pt>
                <c:pt idx="1">
                  <c:v>Epoch 2</c:v>
                </c:pt>
                <c:pt idx="2">
                  <c:v>Epoch 3</c:v>
                </c:pt>
                <c:pt idx="3">
                  <c:v>Epoch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0.20699999999999999</c:v>
                </c:pt>
                <c:pt idx="1">
                  <c:v>0.26500000000000001</c:v>
                </c:pt>
                <c:pt idx="2">
                  <c:v>0.27300000000000002</c:v>
                </c:pt>
                <c:pt idx="3">
                  <c:v>0.26700000000000002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80A-489A-859C-90FD9C0AC7C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Val mAPₛ</c:v>
                </c:pt>
              </c:strCache>
            </c:strRef>
          </c:tx>
          <c:spPr>
            <a:ln w="31750" cap="flat">
              <a:solidFill>
                <a:srgbClr val="8A93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A93A8"/>
              </a:solidFill>
              <a:ln w="9525" cap="flat">
                <a:solidFill>
                  <a:srgbClr val="8A93A8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Epoch 1</c:v>
                </c:pt>
                <c:pt idx="1">
                  <c:v>Epoch 2</c:v>
                </c:pt>
                <c:pt idx="2">
                  <c:v>Epoch 3</c:v>
                </c:pt>
                <c:pt idx="3">
                  <c:v>Epoch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8.1000000000000003E-2</c:v>
                </c:pt>
                <c:pt idx="1">
                  <c:v>0.13</c:v>
                </c:pt>
                <c:pt idx="2">
                  <c:v>0.14299999999999999</c:v>
                </c:pt>
                <c:pt idx="3">
                  <c:v>0.13500000000000001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80A-489A-859C-90FD9C0AC7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3B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1F3B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Times New Roman"/>
              <a:cs typeface="Times New Roman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3B"/>
                </a:solidFill>
                <a:latin typeface="Times New Roman"/>
              </a:defRPr>
            </a:pPr>
            <a:r>
              <a:rPr lang="en-US" sz="1300" b="0" i="0" u="none" strike="noStrike">
                <a:solidFill>
                  <a:srgbClr val="1B1F3B"/>
                </a:solidFill>
                <a:latin typeface="Times New Roman"/>
              </a:rPr>
              <a:t>Full metric comparison on the test set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(cat)</c:v>
                </c:pt>
              </c:strCache>
            </c:strRef>
          </c:tx>
          <c:spPr>
            <a:solidFill>
              <a:srgbClr val="8A93A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B1F3B"/>
                    </a:solidFill>
                    <a:latin typeface="Times New Roman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mAP</c:v>
                </c:pt>
                <c:pt idx="1">
                  <c:v>mAP50</c:v>
                </c:pt>
                <c:pt idx="2">
                  <c:v>mAP75</c:v>
                </c:pt>
                <c:pt idx="3">
                  <c:v>mAPₛ</c:v>
                </c:pt>
                <c:pt idx="4">
                  <c:v>mAPₘ</c:v>
                </c:pt>
                <c:pt idx="5">
                  <c:v>mAPₗ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0.29899999999999999</c:v>
                </c:pt>
                <c:pt idx="1">
                  <c:v>0.67400000000000004</c:v>
                </c:pt>
                <c:pt idx="2">
                  <c:v>0.22700000000000001</c:v>
                </c:pt>
                <c:pt idx="3">
                  <c:v>0.129</c:v>
                </c:pt>
                <c:pt idx="4">
                  <c:v>0.29899999999999999</c:v>
                </c:pt>
                <c:pt idx="5">
                  <c:v>0.55400000000000005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50-46C1-AAFE-835EE7812FE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Gated Fusion (Run 2)</c:v>
                </c:pt>
              </c:strCache>
            </c:strRef>
          </c:tx>
          <c:spPr>
            <a:solidFill>
              <a:srgbClr val="F2641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B1F3B"/>
                    </a:solidFill>
                    <a:latin typeface="Times New Roman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mAP</c:v>
                </c:pt>
                <c:pt idx="1">
                  <c:v>mAP50</c:v>
                </c:pt>
                <c:pt idx="2">
                  <c:v>mAP75</c:v>
                </c:pt>
                <c:pt idx="3">
                  <c:v>mAPₛ</c:v>
                </c:pt>
                <c:pt idx="4">
                  <c:v>mAPₘ</c:v>
                </c:pt>
                <c:pt idx="5">
                  <c:v>mAPₗ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0.32600000000000001</c:v>
                </c:pt>
                <c:pt idx="1">
                  <c:v>0.71199999999999997</c:v>
                </c:pt>
                <c:pt idx="2">
                  <c:v>0.251</c:v>
                </c:pt>
                <c:pt idx="3">
                  <c:v>0.13</c:v>
                </c:pt>
                <c:pt idx="4">
                  <c:v>0.311</c:v>
                </c:pt>
                <c:pt idx="5">
                  <c:v>0.57199999999999995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A50-46C1-AAFE-835EE7812FE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3B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1F3B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Times New Roman"/>
              <a:cs typeface="Times New Roman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3B"/>
                </a:solidFill>
                <a:latin typeface="Times New Roman"/>
              </a:defRPr>
            </a:pPr>
            <a:r>
              <a:rPr lang="en-US" sz="1300" b="0" i="0" u="none" strike="noStrike">
                <a:solidFill>
                  <a:srgbClr val="1B1F3B"/>
                </a:solidFill>
                <a:latin typeface="Times New Roman"/>
              </a:rPr>
              <a:t>Confident detections (score ≥ 0.3) vs. ground truth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Ground Truth</c:v>
                </c:pt>
              </c:strCache>
            </c:strRef>
          </c:tx>
          <c:spPr>
            <a:solidFill>
              <a:srgbClr val="2F485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1F3B"/>
                    </a:solidFill>
                    <a:latin typeface="Times New Roman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Low-illumination</c:v>
                </c:pt>
                <c:pt idx="1">
                  <c:v>Crowded scene</c:v>
                </c:pt>
                <c:pt idx="2">
                  <c:v>Sparse scene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</c:v>
                </c:pt>
                <c:pt idx="1">
                  <c:v>61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2A-4B27-BD95-E011A4C8F67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 (cat)</c:v>
                </c:pt>
              </c:strCache>
            </c:strRef>
          </c:tx>
          <c:spPr>
            <a:solidFill>
              <a:srgbClr val="8A93A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1F3B"/>
                    </a:solidFill>
                    <a:latin typeface="Times New Roman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Low-illumination</c:v>
                </c:pt>
                <c:pt idx="1">
                  <c:v>Crowded scene</c:v>
                </c:pt>
                <c:pt idx="2">
                  <c:v>Sparse scene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30</c:v>
                </c:pt>
                <c:pt idx="1">
                  <c:v>83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42A-4B27-BD95-E011A4C8F67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Gated Fusion (Run 4)</c:v>
                </c:pt>
              </c:strCache>
            </c:strRef>
          </c:tx>
          <c:spPr>
            <a:solidFill>
              <a:srgbClr val="F2641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1F3B"/>
                    </a:solidFill>
                    <a:latin typeface="Times New Roman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Low-illumination</c:v>
                </c:pt>
                <c:pt idx="1">
                  <c:v>Crowded scene</c:v>
                </c:pt>
                <c:pt idx="2">
                  <c:v>Sparse scene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32</c:v>
                </c:pt>
                <c:pt idx="1">
                  <c:v>85</c:v>
                </c:pt>
                <c:pt idx="2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42A-4B27-BD95-E011A4C8F6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3B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1F3B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Times New Roman"/>
              <a:cs typeface="Times New Roman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3042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2F4858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854440" y="4686300"/>
            <a:ext cx="3215640" cy="1691640"/>
          </a:xfrm>
          <a:prstGeom prst="ellipse">
            <a:avLst/>
          </a:prstGeom>
          <a:solidFill>
            <a:srgbClr val="F26419">
              <a:alpha val="30000"/>
            </a:srgbClr>
          </a:solidFill>
          <a:ln/>
        </p:spPr>
        <p:txBody>
          <a:bodyPr/>
          <a:lstStyle/>
          <a:p>
            <a:r>
              <a:rPr lang="en-IN" b="1" dirty="0">
                <a:solidFill>
                  <a:schemeClr val="bg1">
                    <a:lumMod val="95000"/>
                  </a:schemeClr>
                </a:solidFill>
              </a:rPr>
              <a:t>Team Name: </a:t>
            </a:r>
            <a:r>
              <a:rPr lang="en-IN" b="1" dirty="0" err="1">
                <a:solidFill>
                  <a:schemeClr val="bg1">
                    <a:lumMod val="95000"/>
                  </a:schemeClr>
                </a:solidFill>
              </a:rPr>
              <a:t>SriVerse</a:t>
            </a:r>
            <a:endParaRPr lang="en-IN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-1097280" y="4572000"/>
            <a:ext cx="3291840" cy="3291840"/>
          </a:xfrm>
          <a:prstGeom prst="ellipse">
            <a:avLst/>
          </a:prstGeom>
          <a:solidFill>
            <a:srgbClr val="F26419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6AE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YUGMA TECHFEST 2.0  •  MEDHADRISHTI NATIONAL-LEVEL AI HACKATHON  •  JNNCE SHIVAMOGGA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241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Multimodal RGB-Thermal Pedestrian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Detection through Gated Fusion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Novel Fusion Strategy for QFDet, Benchmarked on the VTUAV-det Subset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48920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64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+9.0%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55046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mAP over baseline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86200" y="48920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64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+61%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886200" y="55046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small-object gain, RGB-T vs. thermal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0" y="48920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64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0.326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132320" y="55046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best test mAP achieved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63550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3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Track: AI for Multimodal RGB-Thermal Pedestrian Detection through Efficient Fusion Strategies  |  Baseline: QFDet (MMDetection)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64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ABSTRACT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Seeing Pedestrians When Cameras Alone Cannot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49440" cy="4434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65960"/>
            <a:ext cx="6309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Reliable pedestrian detection breaks down for RGB cameras under low light, glare, or adverse weather — exactly the conditions where safety matters most. This project improves QFDet, a quality-aware RGB-Thermal fusion detector, by replacing its fixed concatenation fusion with a learned, gated cross-modal fusion module.</a:t>
            </a:r>
            <a:endParaRPr lang="en-US" sz="1450" dirty="0"/>
          </a:p>
          <a:p>
            <a:pPr marL="0" indent="0">
              <a:lnSpc>
                <a:spcPct val="128000"/>
              </a:lnSpc>
              <a:buNone/>
            </a:pPr>
            <a:endParaRPr lang="en-US" sz="14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new module lets the network decide, per channel, how much to trust RGB versus thermal features before combining them — rather than always weighting both modalities equally. Fine-tuned from the provided pretrained checkpoint on a curated VTUAV-det subset (single “pedestrian” class), the redesigned fusion strategy was diagnosed, corrected through a targeted learning-rate ablation, and shown to beat the baseline on every evaluation metric — with the largest gains concentrated on small, hard-to-see pedestrians.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726680" y="1691640"/>
            <a:ext cx="3886200" cy="4434840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7" name="Text 5"/>
          <p:cNvSpPr/>
          <p:nvPr/>
        </p:nvSpPr>
        <p:spPr>
          <a:xfrm>
            <a:off x="8001000" y="19202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F6AE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01000" y="2450592"/>
            <a:ext cx="256032" cy="256032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9" name="Text 7"/>
          <p:cNvSpPr/>
          <p:nvPr/>
        </p:nvSpPr>
        <p:spPr>
          <a:xfrm>
            <a:off x="8001000" y="24505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366760" y="2368296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Fine-tune QFDet on the provided RGB-T pedestrian subset (no training from scratch)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01000" y="3209544"/>
            <a:ext cx="256032" cy="256032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12" name="Text 10"/>
          <p:cNvSpPr/>
          <p:nvPr/>
        </p:nvSpPr>
        <p:spPr>
          <a:xfrm>
            <a:off x="8001000" y="32095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366760" y="3127248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a novel fusion strategy that outperforms fixed concatenation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01000" y="3968496"/>
            <a:ext cx="256032" cy="256032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15" name="Text 13"/>
          <p:cNvSpPr/>
          <p:nvPr/>
        </p:nvSpPr>
        <p:spPr>
          <a:xfrm>
            <a:off x="8001000" y="39684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66760" y="388620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Benchmark RGB-only, Thermal-only, and Fusion baselines quantitatively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01000" y="4727448"/>
            <a:ext cx="256032" cy="256032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18" name="Text 16"/>
          <p:cNvSpPr/>
          <p:nvPr/>
        </p:nvSpPr>
        <p:spPr>
          <a:xfrm>
            <a:off x="8001000" y="47274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66760" y="4645152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Diagnose and fix underperformance through a controlled training-strategy ablation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01000" y="5486400"/>
            <a:ext cx="256032" cy="256032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21" name="Text 19"/>
          <p:cNvSpPr/>
          <p:nvPr/>
        </p:nvSpPr>
        <p:spPr>
          <a:xfrm>
            <a:off x="8001000" y="54864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66760" y="5404104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 a fusion module that improves accuracy on small/occluded pedestrians without a heavy compute penalty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3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 weightage: Fusion Strategy 40%  |  Performance Evaluation 20%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64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VTUAV-det Subset — Curated RGB-Thermal Pairs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12344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2606040" cy="73152"/>
          </a:xfrm>
          <a:prstGeom prst="rect">
            <a:avLst/>
          </a:prstGeom>
          <a:solidFill>
            <a:srgbClr val="F26419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0195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1F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1200 / 300 / 200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85800" y="2423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F48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 / Val / Test image pairs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1737360"/>
            <a:ext cx="2606040" cy="12344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9" name="Shape 7"/>
          <p:cNvSpPr/>
          <p:nvPr/>
        </p:nvSpPr>
        <p:spPr>
          <a:xfrm>
            <a:off x="3291840" y="1737360"/>
            <a:ext cx="2606040" cy="73152"/>
          </a:xfrm>
          <a:prstGeom prst="rect">
            <a:avLst/>
          </a:prstGeom>
          <a:solidFill>
            <a:srgbClr val="2F4858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90195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1F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8,138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429000" y="2423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F48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Pedestrian instances (train)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2606040" cy="12344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154680"/>
            <a:ext cx="2606040" cy="73152"/>
          </a:xfrm>
          <a:prstGeom prst="rect">
            <a:avLst/>
          </a:prstGeom>
          <a:solidFill>
            <a:srgbClr val="F26419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31927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1F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1920×1080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85800" y="38404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F48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Uniform resolution, no resizing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91840" y="3154680"/>
            <a:ext cx="2606040" cy="12344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7" name="Shape 15"/>
          <p:cNvSpPr/>
          <p:nvPr/>
        </p:nvSpPr>
        <p:spPr>
          <a:xfrm>
            <a:off x="3291840" y="3154680"/>
            <a:ext cx="2606040" cy="73152"/>
          </a:xfrm>
          <a:prstGeom prst="rect">
            <a:avLst/>
          </a:prstGeom>
          <a:solidFill>
            <a:srgbClr val="2F4858"/>
          </a:solidFill>
          <a:ln/>
        </p:spPr>
      </p:sp>
      <p:sp>
        <p:nvSpPr>
          <p:cNvPr id="18" name="Text 16"/>
          <p:cNvSpPr/>
          <p:nvPr/>
        </p:nvSpPr>
        <p:spPr>
          <a:xfrm>
            <a:off x="3429000" y="331927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1F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3.6 / 255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3429000" y="38404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F48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Darkest scene’s avg. RGB brightness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080760" y="1737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Object-Scale Distribution by Split (%)</a:t>
            </a:r>
            <a:endParaRPr lang="en-US" sz="13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5989320" y="2103120"/>
          <a:ext cx="562356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Text 19"/>
          <p:cNvSpPr/>
          <p:nvPr/>
        </p:nvSpPr>
        <p:spPr>
          <a:xfrm>
            <a:off x="548640" y="50749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1B1F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test split is proportionally harder than train (25.6% small vs. 9.9%) — the model must generalize to smaller pedestrians than it was trained on. Test set also averages 10.3 pedestrians/image vs. 6.8 in train, and includes near-zero-illumination frames where thermal is the only usable signal.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3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Only the provided VTUAV-det subset used — no external data. Single class: pedestrian.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6AE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Two Sensor Streams to One Detection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148840" cy="868680"/>
          </a:xfrm>
          <a:prstGeom prst="rect">
            <a:avLst/>
          </a:prstGeom>
          <a:solidFill>
            <a:srgbClr val="2F4858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856232"/>
            <a:ext cx="2002536" cy="477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RGB Image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21792" y="2260854"/>
            <a:ext cx="200253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Visible-spectrum input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2148840" cy="868680"/>
          </a:xfrm>
          <a:prstGeom prst="rect">
            <a:avLst/>
          </a:prstGeom>
          <a:solidFill>
            <a:srgbClr val="2F4858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1792" y="2953512"/>
            <a:ext cx="2002536" cy="477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Thermal Image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1792" y="3358134"/>
            <a:ext cx="200253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IR input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063240" y="1783080"/>
            <a:ext cx="2148840" cy="868680"/>
          </a:xfrm>
          <a:prstGeom prst="rect">
            <a:avLst/>
          </a:prstGeom>
          <a:solidFill>
            <a:srgbClr val="3B4B63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36392" y="1856232"/>
            <a:ext cx="2002536" cy="477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RGB Backbone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136392" y="2260854"/>
            <a:ext cx="200253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ResNet-50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063240" y="2880360"/>
            <a:ext cx="2148840" cy="868680"/>
          </a:xfrm>
          <a:prstGeom prst="rect">
            <a:avLst/>
          </a:prstGeom>
          <a:solidFill>
            <a:srgbClr val="3B4B63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136392" y="2953512"/>
            <a:ext cx="2002536" cy="477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Thermal Backbone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136392" y="3358134"/>
            <a:ext cx="200253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ResNet-50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532120" y="1920240"/>
            <a:ext cx="502920" cy="274320"/>
          </a:xfrm>
          <a:prstGeom prst="rightArrow">
            <a:avLst/>
          </a:prstGeom>
          <a:solidFill>
            <a:srgbClr val="F6AE2D"/>
          </a:solidFill>
          <a:ln/>
        </p:spPr>
      </p:sp>
      <p:sp>
        <p:nvSpPr>
          <p:cNvPr id="17" name="Shape 15"/>
          <p:cNvSpPr/>
          <p:nvPr/>
        </p:nvSpPr>
        <p:spPr>
          <a:xfrm>
            <a:off x="5532120" y="3017520"/>
            <a:ext cx="502920" cy="274320"/>
          </a:xfrm>
          <a:prstGeom prst="rightArrow">
            <a:avLst/>
          </a:prstGeom>
          <a:solidFill>
            <a:srgbClr val="F6AE2D"/>
          </a:solidFill>
          <a:ln/>
        </p:spPr>
      </p:sp>
      <p:sp>
        <p:nvSpPr>
          <p:cNvPr id="18" name="Shape 16"/>
          <p:cNvSpPr/>
          <p:nvPr/>
        </p:nvSpPr>
        <p:spPr>
          <a:xfrm>
            <a:off x="6172200" y="1965960"/>
            <a:ext cx="2606040" cy="1417320"/>
          </a:xfrm>
          <a:prstGeom prst="rect">
            <a:avLst/>
          </a:prstGeom>
          <a:solidFill>
            <a:srgbClr val="F26419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45352" y="2039112"/>
            <a:ext cx="2459736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Gated Cross-Modal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Fusion (Ours)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45352" y="2745486"/>
            <a:ext cx="245973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Per-channel RGB/thermal trust gates → scale → concat → 1×1 conv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915400" y="2468880"/>
            <a:ext cx="502920" cy="274320"/>
          </a:xfrm>
          <a:prstGeom prst="rightArrow">
            <a:avLst/>
          </a:prstGeom>
          <a:solidFill>
            <a:srgbClr val="F6AE2D"/>
          </a:solidFill>
          <a:ln/>
        </p:spPr>
      </p:sp>
      <p:sp>
        <p:nvSpPr>
          <p:cNvPr id="22" name="Shape 20"/>
          <p:cNvSpPr/>
          <p:nvPr/>
        </p:nvSpPr>
        <p:spPr>
          <a:xfrm>
            <a:off x="9555480" y="1965960"/>
            <a:ext cx="2057400" cy="1417320"/>
          </a:xfrm>
          <a:prstGeom prst="rect">
            <a:avLst/>
          </a:prstGeom>
          <a:solidFill>
            <a:srgbClr val="2F4858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28632" y="2039112"/>
            <a:ext cx="1911096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QFDet Head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628632" y="2745486"/>
            <a:ext cx="191109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Quality-aware detection head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447020" y="3401568"/>
            <a:ext cx="274320" cy="365760"/>
          </a:xfrm>
          <a:prstGeom prst="downArrow">
            <a:avLst/>
          </a:prstGeom>
          <a:solidFill>
            <a:srgbClr val="F6AE2D"/>
          </a:solidFill>
          <a:ln/>
        </p:spPr>
      </p:sp>
      <p:sp>
        <p:nvSpPr>
          <p:cNvPr id="26" name="Shape 24"/>
          <p:cNvSpPr/>
          <p:nvPr/>
        </p:nvSpPr>
        <p:spPr>
          <a:xfrm>
            <a:off x="8595360" y="3886200"/>
            <a:ext cx="3017520" cy="777240"/>
          </a:xfrm>
          <a:prstGeom prst="rect">
            <a:avLst/>
          </a:prstGeom>
          <a:solidFill>
            <a:srgbClr val="3B4B63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668512" y="3959352"/>
            <a:ext cx="2871216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Pedestrian Boxes + Scores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668512" y="4313682"/>
            <a:ext cx="28712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Single-class output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4206240"/>
            <a:ext cx="7589520" cy="1965960"/>
          </a:xfrm>
          <a:prstGeom prst="rect">
            <a:avLst/>
          </a:prstGeom>
          <a:solidFill>
            <a:srgbClr val="232A4F"/>
          </a:solidFill>
          <a:ln w="12700">
            <a:solidFill>
              <a:srgbClr val="F2641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4343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F6AE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THE GATE WORKS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" y="4681728"/>
            <a:ext cx="7040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 Global-average-pool each modality’s feature map to a per-channel vector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 Concatenate the two vectors and pass through a small bottleneck MLP + sigmoid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 Produces independent RGB and thermal gates in [0,1] per channel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 Each modality is scaled by its own gate, then concatenated and compressed via 1×1 conv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 the network learns, per channel, how much to trust each sensor — e.g. down-weighting RGB in the dark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95360" y="484632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Sits downstream of QFDet's existing quality-attention reweighting — complements rather than duplicates it.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64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BASELINE BENCHMARKING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Fusion Is Necessary: RGB vs. Thermal vs. Fusion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58521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537960" y="1737360"/>
          <a:ext cx="50749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257800"/>
            <a:ext cx="11064240" cy="9601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7" name="Text 3"/>
          <p:cNvSpPr/>
          <p:nvPr/>
        </p:nvSpPr>
        <p:spPr>
          <a:xfrm>
            <a:off x="777240" y="539496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RGB-only collapses in low light (avg. brightness as low as 3.6/255 in some frames); thermal-only holds up but fusion still adds a 61% relative gain at small scale vs. only ~3% at large scale — fusion’s value is concentrated exactly where single-modality detection struggles most.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3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Stage: Unimodal Analysis &amp; Baseline Benchmarking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64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FUSION STRATEGY — TRAINING DIAGNOSIS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an Underperforming Run to a Confirmed Win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59436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675120" y="1737360"/>
            <a:ext cx="73152" cy="777240"/>
          </a:xfrm>
          <a:prstGeom prst="rect">
            <a:avLst/>
          </a:prstGeom>
          <a:solidFill>
            <a:srgbClr val="D64541"/>
          </a:solidFill>
          <a:ln/>
        </p:spPr>
      </p:sp>
      <p:sp>
        <p:nvSpPr>
          <p:cNvPr id="6" name="Text 3"/>
          <p:cNvSpPr/>
          <p:nvPr/>
        </p:nvSpPr>
        <p:spPr>
          <a:xfrm>
            <a:off x="6903720" y="17190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D645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 1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903720" y="197510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Gated fusion, uniform LR, 4 epochs → mAP 0.284, underperforms baseline (0.299)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675120" y="2633472"/>
            <a:ext cx="73152" cy="777240"/>
          </a:xfrm>
          <a:prstGeom prst="rect">
            <a:avLst/>
          </a:prstGeom>
          <a:solidFill>
            <a:srgbClr val="2F4858"/>
          </a:solidFill>
          <a:ln/>
        </p:spPr>
      </p:sp>
      <p:sp>
        <p:nvSpPr>
          <p:cNvPr id="9" name="Text 6"/>
          <p:cNvSpPr/>
          <p:nvPr/>
        </p:nvSpPr>
        <p:spPr>
          <a:xfrm>
            <a:off x="6903720" y="261518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2F48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DIAGNOSIS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903720" y="2871216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New, randomly-initialized gating layers are undertrained under the same LR as the pretrained backbone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675120" y="3529584"/>
            <a:ext cx="73152" cy="777240"/>
          </a:xfrm>
          <a:prstGeom prst="rect">
            <a:avLst/>
          </a:prstGeom>
          <a:solidFill>
            <a:srgbClr val="2F4858"/>
          </a:solidFill>
          <a:ln/>
        </p:spPr>
      </p:sp>
      <p:sp>
        <p:nvSpPr>
          <p:cNvPr id="12" name="Text 9"/>
          <p:cNvSpPr/>
          <p:nvPr/>
        </p:nvSpPr>
        <p:spPr>
          <a:xfrm>
            <a:off x="6903720" y="351129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2F48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FIX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903720" y="376732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Apply 10× LR multiplier to gating parameters only; continue from Run 1’s best checkpoint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675120" y="4425696"/>
            <a:ext cx="73152" cy="777240"/>
          </a:xfrm>
          <a:prstGeom prst="rect">
            <a:avLst/>
          </a:prstGeom>
          <a:solidFill>
            <a:srgbClr val="F26419"/>
          </a:solidFill>
          <a:ln/>
        </p:spPr>
      </p:sp>
      <p:sp>
        <p:nvSpPr>
          <p:cNvPr id="15" name="Text 12"/>
          <p:cNvSpPr/>
          <p:nvPr/>
        </p:nvSpPr>
        <p:spPr>
          <a:xfrm>
            <a:off x="6903720" y="44074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264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 2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903720" y="46634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mAP 0.326 — beats baseline and Run 1 on every metric, confirming the diagnosis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5349240"/>
            <a:ext cx="11064240" cy="868680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546811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Conclusion: the gap between Run 1 and Run 2 isolates the cause to training strategy, not architecture — gated fusion is a genuine improvement once trained properly. This comparison also serves as a lightweight ablation on learning-rate strategy for newly-added fusion parameters.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3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Stage: Novel RGB-Thermal Fusion Strategy Development (40% weight)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64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EXTENDED ABLATION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Tightening the Gate: Bottleneck Size Sweep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667512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737360"/>
            <a:ext cx="4160520" cy="34290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3"/>
          <p:cNvSpPr/>
          <p:nvPr/>
        </p:nvSpPr>
        <p:spPr>
          <a:xfrm>
            <a:off x="7680960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F264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SHRINK THE GATE?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680960" y="22860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 2’s gating MLP was suspected of producing noisy, imprecise gates. Run 4 shrinks the bottleneck width and reruns training.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Best epoch (3): val mAP 0.336, mAP75 0.273 — a clear step up on mAP75 versus Run 2/3’s ~0.25, exactly the strict-overlap metric the noisy gate was suspected of hurting.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Test-set confirmation for Run 4 was in progress at time of submission (see Qualitative Results).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5349240"/>
            <a:ext cx="11064240" cy="822960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545896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Status: optional extended ablation beyond the core Run 1 → Run 2 result. Included to show the fusion design space was explored beyond the single confirmed submission (Run 2).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3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Ablation Study (gate bottleneck width)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64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PERFORMANCE EVALUATION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Confirmed Result: Gated Fusion (Run 2) vs. Baseline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758952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0" y="1737360"/>
          <a:ext cx="3246120" cy="3703322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7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66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90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Metric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Baseline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Run 2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Δ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0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mAP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0.299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0.326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+0.027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0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mAP50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0.674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0.712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+0.038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0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mAP75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0.227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0.251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+0.024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0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mAPₛ (small)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0.129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0.130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+0.001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0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mAPₘ (medium)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0.299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0.311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+0.012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90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mAPₗ (large)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0.554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0.572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+0.018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3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Stage: Performance Evaluation &amp; Comparative Analysis (20% weight)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6AE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EFFICIENCY TRADE-OFF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Accuracy Gains Are Not Free — What Fusion Costs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1554480"/>
          </a:xfrm>
          <a:prstGeom prst="rect">
            <a:avLst/>
          </a:prstGeom>
          <a:solidFill>
            <a:srgbClr val="232A4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0116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64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60.63M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Parameters (dual backbone)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19272" y="1828800"/>
            <a:ext cx="2606040" cy="1554480"/>
          </a:xfrm>
          <a:prstGeom prst="rect">
            <a:avLst/>
          </a:prstGeom>
          <a:solidFill>
            <a:srgbClr val="232A4F"/>
          </a:solidFill>
          <a:ln/>
        </p:spPr>
      </p:sp>
      <p:sp>
        <p:nvSpPr>
          <p:cNvPr id="8" name="Text 6"/>
          <p:cNvSpPr/>
          <p:nvPr/>
        </p:nvSpPr>
        <p:spPr>
          <a:xfrm>
            <a:off x="3502152" y="20116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64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122.14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502152" y="26517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GFLOPs @ 640×384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9904" y="1828800"/>
            <a:ext cx="2606040" cy="1554480"/>
          </a:xfrm>
          <a:prstGeom prst="rect">
            <a:avLst/>
          </a:prstGeom>
          <a:solidFill>
            <a:srgbClr val="232A4F"/>
          </a:solidFill>
          <a:ln/>
        </p:spPr>
      </p:sp>
      <p:sp>
        <p:nvSpPr>
          <p:cNvPr id="11" name="Text 9"/>
          <p:cNvSpPr/>
          <p:nvPr/>
        </p:nvSpPr>
        <p:spPr>
          <a:xfrm>
            <a:off x="6272784" y="20116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64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14.39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272784" y="26517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FPS on T4 GPU (69.5 ms/pair)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860536" y="1828800"/>
            <a:ext cx="2606040" cy="1554480"/>
          </a:xfrm>
          <a:prstGeom prst="rect">
            <a:avLst/>
          </a:prstGeom>
          <a:solidFill>
            <a:srgbClr val="232A4F"/>
          </a:solidFill>
          <a:ln/>
        </p:spPr>
      </p:sp>
      <p:sp>
        <p:nvSpPr>
          <p:cNvPr id="14" name="Text 12"/>
          <p:cNvSpPr/>
          <p:nvPr/>
        </p:nvSpPr>
        <p:spPr>
          <a:xfrm>
            <a:off x="9043416" y="20116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64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463 MB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043416" y="26517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/ checkpoint size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11064240" cy="2331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886200"/>
            <a:ext cx="10424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Fusion requires two parallel backbones — roughly double the parameters and inference cost of a single-modality detector — and its measured 14.39 FPS sits below the commonly cited 30 FPS real-time threshold.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Thermal-only retains most of fusion’s large-object accuracy (mAPₗ 0.538 vs. 0.554) at roughly half the compute, making it a defensible choice where latency or compute is tightly constrained — sacrificing accuracy primarily on small/medium pedestrians, exactly where fusion’s advantage is largest.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gated fusion module itself is a lightweight addition (a small bottleneck MLP) on top of the existing dual-backbone cost — it improves accuracy without materially changing this trade-off.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64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QUALITATIVE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Detections on Challenge Cases: Baseline vs. Gated Fusion (Run 4)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740664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737360"/>
            <a:ext cx="3383280" cy="36576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3"/>
          <p:cNvSpPr/>
          <p:nvPr/>
        </p:nvSpPr>
        <p:spPr>
          <a:xfrm>
            <a:off x="8458200" y="1920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F264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OBSERVATIONS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458200" y="2286000"/>
            <a:ext cx="30175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all three sampled challenge images, the gated fusion model (Run 4) detects at least as many pedestrians as the baseline, with a small edge on the crowded and low-illumination scenes.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the crowded scene, both models exceed ground-truth count (likely double-detections/false positives at the 0.3 threshold) — flagged for the full qualitative write-up rather than read as a win.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 quantitative test-set mAP for Run 4 was still being confirmed at submission time; these detection counts are an early positive signal consistent with Run 4’s validation-set gains.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3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GT = green, Baseline = red, Run 4 = blue in full side-by-side visualizations (see report)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6AE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Gated Fusion Delivers, and the Path Forward Is Clear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20" dirty="0">
                <a:solidFill>
                  <a:srgbClr val="F6AE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67712"/>
            <a:ext cx="201168" cy="201168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Gated cross-modal fusion beats fixed concatenation on every metric once trained with the right learning-rate strategy (mAP 0.326 vs. 0.299)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136392"/>
            <a:ext cx="201168" cy="201168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06324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Gains are concentrated on the hardest cases — small, low-light pedestrians — exactly where the hackathon’s track cares most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005072"/>
            <a:ext cx="201168" cy="201168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93192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fix (10× LR on new gating parameters) is cheap and generalizes as a recipe for any newly-added fusion layer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873752"/>
            <a:ext cx="201168" cy="201168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80060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smaller gate bottleneck (Run 4) shows further headroom on mAP75, worth confirming on the full test set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1783080"/>
            <a:ext cx="4846320" cy="4160520"/>
          </a:xfrm>
          <a:prstGeom prst="rect">
            <a:avLst/>
          </a:prstGeom>
          <a:solidFill>
            <a:srgbClr val="232A4F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0" y="19659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20" dirty="0">
                <a:solidFill>
                  <a:srgbClr val="F6AE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40880" y="24231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64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60920" y="242316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Confirm Run 4 (smaller gate) on the held-out test set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40880" y="32918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64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60920" y="329184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Multi-factor ablation: gate with/without quality-attention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40880" y="41605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64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60920" y="416052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Explore lighter backbones to close the FPS gap toward real-time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40880" y="50292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64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60920" y="502920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Extend qualitative analysis across the full test set, not just 3 images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AB268C-3490-F011-8E71-B5C24E556BFD}"/>
              </a:ext>
            </a:extLst>
          </p:cNvPr>
          <p:cNvSpPr txBox="1"/>
          <p:nvPr/>
        </p:nvSpPr>
        <p:spPr>
          <a:xfrm>
            <a:off x="270588" y="1063690"/>
            <a:ext cx="108981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RESULT</a:t>
            </a:r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EBD30C-25A3-90FA-B589-FEFB46A81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506" y="1847461"/>
            <a:ext cx="5215812" cy="39468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751D23-BDCC-4F94-C2EA-3D080B80D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849" y="1847461"/>
            <a:ext cx="5215812" cy="394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0800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C606D2-A98F-D8C5-E874-ED8710EEFD7A}"/>
              </a:ext>
            </a:extLst>
          </p:cNvPr>
          <p:cNvSpPr txBox="1"/>
          <p:nvPr/>
        </p:nvSpPr>
        <p:spPr>
          <a:xfrm>
            <a:off x="3452327" y="1968759"/>
            <a:ext cx="44600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602442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1498</Words>
  <Application>Microsoft Office PowerPoint</Application>
  <PresentationFormat>Widescreen</PresentationFormat>
  <Paragraphs>194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Khushi Kanchan</cp:lastModifiedBy>
  <cp:revision>2</cp:revision>
  <dcterms:created xsi:type="dcterms:W3CDTF">2026-07-25T03:59:50Z</dcterms:created>
  <dcterms:modified xsi:type="dcterms:W3CDTF">2026-07-25T04:14:15Z</dcterms:modified>
</cp:coreProperties>
</file>